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开场提问：为什么安全气囊、跳远沙坑、头盔能保护人？学完动量定理就能回答。本页动画：标题先出现，两张公式卡随后淡入。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强调二者都是矢量：动量描述状态，冲量描述力的时间累积。动画顺序：标题 → 两个大卡片 → 矢量图 → 底部结论。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演示视频：同样的冲量，软垫把作用时间拉长，作用力被“摊薄”。放映时点击画面播放（内嵌 mp4）。动画顺序：标题 → 视频卡 → 推导卡 → 结论卡 → 例题。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对比表数据来自演示：动量变化完全相同，峰值力相差约 25 倍。动画顺序：标题 → 两个说明卡 → 数据表 → 生活应用。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收尾：三句话复述全课，用 F–t 面积回扣动量定理。动画顺序：标题 → 核心结论 → F–t 面积图 → 对比与易错点。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Relationship Id="rId6" Type="http://schemas.openxmlformats.org/officeDocument/2006/relationships/hyperlink" Target="/Users/Jason/Downloads/&#19979;&#36733;/test /assets/momentum-demo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F6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274320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600" b="1">
                <a:solidFill>
                  <a:srgbClr val="0E9DBE"/>
                </a:solidFill>
                <a:latin typeface="微软雅黑"/>
                <a:ea typeface="微软雅黑"/>
                <a:cs typeface="微软雅黑"/>
              </a:rPr>
              <a:t>物理 · 动量与碰撞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00784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48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动量 · 冲量 · 动量定理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34640"/>
            <a:ext cx="106070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9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同样的动量变化，为什么“软一点、慢一点”就更安全？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" y="3566160"/>
            <a:ext cx="5138928" cy="175564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014984" y="3749039"/>
            <a:ext cx="68580" cy="1389888"/>
          </a:xfrm>
          <a:prstGeom prst="roundRect">
            <a:avLst>
              <a:gd name="adj" fmla="val 50000"/>
            </a:avLst>
          </a:prstGeom>
          <a:solidFill>
            <a:srgbClr val="0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7307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A62"/>
                </a:solidFill>
                <a:latin typeface="微软雅黑"/>
                <a:ea typeface="微软雅黑"/>
                <a:cs typeface="微软雅黑"/>
              </a:rPr>
              <a:t>动量 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9651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2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p = m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754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kg·m/s　方向与速度相同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566160"/>
            <a:ext cx="5138928" cy="1755648"/>
          </a:xfrm>
          <a:prstGeom prst="roundRect">
            <a:avLst>
              <a:gd name="adj" fmla="val 3645"/>
            </a:avLst>
          </a:prstGeom>
          <a:solidFill>
            <a:srgbClr val="FFFFFF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19672" y="3749039"/>
            <a:ext cx="68580" cy="1389888"/>
          </a:xfrm>
          <a:prstGeom prst="roundRect">
            <a:avLst>
              <a:gd name="adj" fmla="val 50000"/>
            </a:avLst>
          </a:prstGeom>
          <a:solidFill>
            <a:srgbClr val="E0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37307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700A"/>
                </a:solidFill>
                <a:latin typeface="微软雅黑"/>
                <a:ea typeface="微软雅黑"/>
                <a:cs typeface="微软雅黑"/>
              </a:rPr>
              <a:t>冲量 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409651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2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I = F Δt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7688" y="47548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N·s　方向与作用力相同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5541264"/>
            <a:ext cx="2194560" cy="32004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705856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本课主线：概念 → 定理 → 演示 → 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447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2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讲解人：____________　　班级：____________　　日期：____________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4"/>
                            </p:tgtEl>
                            <p:childTnLst>
                              <p:set>
                                <p:cBhvr>
                                  <p:cTn id="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5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5"/>
                            </p:tgtEl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6"/>
                            </p:tgtEl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12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7"/>
                            </p:tgtEl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9"/>
                            </p:tgtEl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0"/>
                            </p:tgtEl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1"/>
                            </p:tgtEl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25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2"/>
                            </p:tgtEl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4"/>
                            </p:tgtEl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5"/>
                            </p:tgtEl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3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6"/>
                            </p:tgtEl>
                            <p:childTnLst>
                              <p:set>
                                <p:cBhvr>
                                  <p:cTn id="3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6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38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7"/>
                            </p:tgtEl>
                            <p:childTnLst>
                              <p:set>
                                <p:cBhvr>
                                  <p:cTn id="3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0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8"/>
                            </p:tgtEl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9"/>
                            </p:tgtEl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146304" cy="548640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3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一、动量 p 与冲量 I：都是矢量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4630"/>
          </a:xfrm>
          <a:prstGeom prst="rect">
            <a:avLst/>
          </a:prstGeom>
          <a:solidFill>
            <a:srgbClr val="D3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382512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2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先规定正方向，再代入正负号计算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532120" cy="1371600"/>
          </a:xfrm>
          <a:prstGeom prst="roundRect">
            <a:avLst>
              <a:gd name="adj" fmla="val 4666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8580" cy="1005840"/>
          </a:xfrm>
          <a:prstGeom prst="roundRect">
            <a:avLst>
              <a:gd name="adj" fmla="val 50000"/>
            </a:avLst>
          </a:prstGeom>
          <a:solidFill>
            <a:srgbClr val="0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27632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A62"/>
                </a:solidFill>
                <a:latin typeface="微软雅黑"/>
                <a:ea typeface="微软雅黑"/>
                <a:cs typeface="微软雅黑"/>
              </a:rPr>
              <a:t>动量 p = m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75104"/>
            <a:ext cx="493776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矢量，方向与 v 相同　｜　状态量：v 变则 p 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481328"/>
            <a:ext cx="5358384" cy="1371600"/>
          </a:xfrm>
          <a:prstGeom prst="roundRect">
            <a:avLst>
              <a:gd name="adj" fmla="val 4666"/>
            </a:avLst>
          </a:prstGeom>
          <a:solidFill>
            <a:srgbClr val="FF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37376" y="1664208"/>
            <a:ext cx="68580" cy="1005840"/>
          </a:xfrm>
          <a:prstGeom prst="roundRect">
            <a:avLst>
              <a:gd name="adj" fmla="val 50000"/>
            </a:avLst>
          </a:prstGeom>
          <a:solidFill>
            <a:srgbClr val="E0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27632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700A"/>
                </a:solidFill>
                <a:latin typeface="微软雅黑"/>
                <a:ea typeface="微软雅黑"/>
                <a:cs typeface="微软雅黑"/>
              </a:rPr>
              <a:t>冲量 I = F Δt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4846320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矢量，方向与 F 相同　｜　过程量：与作用时间挂钩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017520"/>
            <a:ext cx="6903720" cy="2212848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fig-v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30" y="3145536"/>
            <a:ext cx="5457915" cy="19568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17536" y="3035808"/>
            <a:ext cx="391363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2F6BD8"/>
                </a:solidFill>
                <a:latin typeface="微软雅黑"/>
                <a:ea typeface="微软雅黑"/>
                <a:cs typeface="微软雅黑"/>
              </a:rPr>
              <a:t>为什么必须规定正方向？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3474720"/>
            <a:ext cx="3913632" cy="17739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反弹后速度与原来相反，末动量要写成负值。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5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p = +5.0 kg·m/s　→　p' = −5.0 kg·m/s</a:t>
            </a:r>
          </a:p>
          <a:p>
            <a:pPr algn="l">
              <a:lnSpc>
                <a:spcPct val="132000"/>
              </a:lnSpc>
              <a:spcAft>
                <a:spcPts val="8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1 N·s = 1 kg·m/s，两个单位可以互换。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68112"/>
            <a:ext cx="10332720" cy="914400"/>
          </a:xfrm>
          <a:prstGeom prst="roundRect">
            <a:avLst>
              <a:gd name="adj" fmla="val 7000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31520" y="5650992"/>
            <a:ext cx="68580" cy="548640"/>
          </a:xfrm>
          <a:prstGeom prst="roundRect">
            <a:avLst>
              <a:gd name="adj" fmla="val 50000"/>
            </a:avLst>
          </a:prstGeom>
          <a:solidFill>
            <a:srgbClr val="2F6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14416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一句话：</a:t>
            </a:r>
          </a:p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500" b="1">
                <a:solidFill>
                  <a:srgbClr val="2F6BD8"/>
                </a:solidFill>
                <a:latin typeface="微软雅黑"/>
                <a:ea typeface="微软雅黑"/>
                <a:cs typeface="微软雅黑"/>
              </a:rPr>
              <a:t>动量看“运动状态”，冲量看“力用了多久”。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"/>
                            </p:tgtEl>
                            <p:childTnLst>
                              <p:set>
                                <p:cBhvr>
                                  <p:cTn id="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3"/>
                            </p:tgtEl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4"/>
                            </p:tgtEl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5"/>
                            </p:tgtEl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6"/>
                            </p:tgtEl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7"/>
                            </p:tgtEl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9"/>
                            </p:tgtEl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0"/>
                            </p:tgtEl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1"/>
                            </p:tgtEl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3"/>
                            </p:tgtEl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4"/>
                            </p:tgtEl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5"/>
                            </p:tgtEl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6"/>
                            </p:tgtEl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7"/>
                            </p:tgtEl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8"/>
                            </p:tgtEl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9"/>
                            </p:tgtEl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1"/>
                            </p:tgtEl>
                            <p:childTnLst>
                              <p:set>
                                <p:cBhvr>
                                  <p:cTn id="5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6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146304" cy="548640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3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二、动量定理：冲量等于动量变化量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4630"/>
          </a:xfrm>
          <a:prstGeom prst="rect">
            <a:avLst/>
          </a:prstGeom>
          <a:solidFill>
            <a:srgbClr val="D3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382512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演示：同样的冲量，为什么软垫更安全？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675120" cy="3858768"/>
          </a:xfrm>
          <a:prstGeom prst="roundRect">
            <a:avLst>
              <a:gd name="adj" fmla="val 1658"/>
            </a:avLst>
          </a:prstGeom>
          <a:solidFill>
            <a:srgbClr val="0A1222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momentum-dem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31520" y="1609344"/>
            <a:ext cx="6345936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029200"/>
            <a:ext cx="63459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700"/>
              </a:spcAft>
            </a:pPr>
            <a:r>
              <a:rPr sz="1100" b="0">
                <a:solidFill>
                  <a:srgbClr val="6C7E9B"/>
                </a:solidFill>
                <a:latin typeface="微软雅黑"/>
                <a:ea typeface="微软雅黑"/>
                <a:cs typeface="微软雅黑"/>
                <a:hlinkClick r:id="rId6"/>
              </a:rPr>
              <a:t>▶ 放映时点击画面播放演示（也可用外部播放器打开 mp4）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88352" y="1481328"/>
            <a:ext cx="4242816" cy="1847088"/>
          </a:xfrm>
          <a:prstGeom prst="roundRect">
            <a:avLst>
              <a:gd name="adj" fmla="val 3465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552944" y="1664208"/>
            <a:ext cx="68580" cy="1481328"/>
          </a:xfrm>
          <a:prstGeom prst="roundRect">
            <a:avLst>
              <a:gd name="adj" fmla="val 50000"/>
            </a:avLst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62763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DBE"/>
                </a:solidFill>
                <a:latin typeface="微软雅黑"/>
                <a:ea typeface="微软雅黑"/>
                <a:cs typeface="微软雅黑"/>
              </a:rPr>
              <a:t>定理表达式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93392"/>
            <a:ext cx="384048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22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I合 = Δp = p' −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25603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即　F Δt = m v' − m 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88352" y="3493008"/>
            <a:ext cx="4242816" cy="1847088"/>
          </a:xfrm>
          <a:prstGeom prst="roundRect">
            <a:avLst>
              <a:gd name="adj" fmla="val 3465"/>
            </a:avLst>
          </a:prstGeom>
          <a:solidFill>
            <a:srgbClr val="E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552944" y="3675887"/>
            <a:ext cx="68580" cy="1481328"/>
          </a:xfrm>
          <a:prstGeom prst="roundRect">
            <a:avLst>
              <a:gd name="adj" fmla="val 50000"/>
            </a:avLst>
          </a:prstGeom>
          <a:solidFill>
            <a:srgbClr val="0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639312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A62"/>
                </a:solidFill>
                <a:latin typeface="微软雅黑"/>
                <a:ea typeface="微软雅黑"/>
                <a:cs typeface="微软雅黑"/>
              </a:rPr>
              <a:t>一句话记住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4005072"/>
            <a:ext cx="3840480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同样的 Δp：</a:t>
            </a:r>
          </a:p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500" b="1">
                <a:solidFill>
                  <a:srgbClr val="0E9A62"/>
                </a:solidFill>
                <a:latin typeface="微软雅黑"/>
                <a:ea typeface="微软雅黑"/>
                <a:cs typeface="微软雅黑"/>
              </a:rPr>
              <a:t>Δt 拉长 n 倍，平均力降到 1/n。</a:t>
            </a:r>
          </a:p>
          <a:p>
            <a:pPr algn="l">
              <a:lnSpc>
                <a:spcPct val="134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这就是缓冲。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449824"/>
            <a:ext cx="11064240" cy="877824"/>
          </a:xfrm>
          <a:prstGeom prst="roundRect">
            <a:avLst>
              <a:gd name="adj" fmla="val 7291"/>
            </a:avLst>
          </a:prstGeom>
          <a:solidFill>
            <a:srgbClr val="FF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731520" y="5632704"/>
            <a:ext cx="68580" cy="512063"/>
          </a:xfrm>
          <a:prstGeom prst="roundRect">
            <a:avLst>
              <a:gd name="adj" fmla="val 50000"/>
            </a:avLst>
          </a:prstGeom>
          <a:solidFill>
            <a:srgbClr val="E0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504688"/>
            <a:ext cx="5120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700A"/>
                </a:solidFill>
                <a:latin typeface="微软雅黑"/>
                <a:ea typeface="微软雅黑"/>
                <a:cs typeface="微软雅黑"/>
              </a:rPr>
              <a:t>例题（与演示数据相同）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5815584"/>
            <a:ext cx="517550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m = 0.50 kg，v = 10 m/s 撞墙后以 10 m/s 弹回：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Δp = 0.5×(−10) − 0.5×(+10) = −10 kg·m/s，故 I = 10 N·s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5815584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1">
                <a:solidFill>
                  <a:srgbClr val="E0700A"/>
                </a:solidFill>
                <a:latin typeface="微软雅黑"/>
                <a:ea typeface="微软雅黑"/>
                <a:cs typeface="微软雅黑"/>
              </a:rPr>
              <a:t>硬地 Δt = 0.05 s → 平均力 200 N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1300" b="1">
                <a:solidFill>
                  <a:srgbClr val="0E9DBE"/>
                </a:solidFill>
                <a:latin typeface="微软雅黑"/>
                <a:ea typeface="微软雅黑"/>
                <a:cs typeface="微软雅黑"/>
              </a:rPr>
              <a:t>软垫 Δt = 0.40 s → 平均力 25 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"/>
                            </p:tgtEl>
                            <p:childTnLst>
                              <p:set>
                                <p:cBhvr>
                                  <p:cTn id="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3"/>
                            </p:tgtEl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4"/>
                            </p:tgtEl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5"/>
                            </p:tgtEl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6"/>
                            </p:tgtEl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7"/>
                            </p:tgtEl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8"/>
                            </p:tgtEl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9"/>
                            </p:tgtEl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0"/>
                            </p:tgtEl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2"/>
                            </p:tgtEl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3"/>
                            </p:tgtEl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6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4"/>
                            </p:tgtEl>
                            <p:childTnLst>
                              <p:set>
                                <p:cBhvr>
                                  <p:cTn id="3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8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4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5"/>
                            </p:tgtEl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7"/>
                            </p:tgtEl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8"/>
                            </p:tgtEl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5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9"/>
                            </p:tgtEl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1"/>
                            </p:tgtEl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50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2"/>
                            </p:tgtEl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50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9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3"/>
                            </p:tgtEl>
                            <p:childTnLst>
                              <p:set>
                                <p:cBhvr>
                                  <p:cTn id="6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0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146304" cy="548640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3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三、缓冲为什么有效：Δt 越大，力越小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4630"/>
          </a:xfrm>
          <a:prstGeom prst="rect">
            <a:avLst/>
          </a:prstGeom>
          <a:solidFill>
            <a:srgbClr val="D3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382512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Δp 由前后速度决定，缓冲只能改变“力的分布”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5532120" cy="1188720"/>
          </a:xfrm>
          <a:prstGeom prst="roundRect">
            <a:avLst>
              <a:gd name="adj" fmla="val 5384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8580" cy="822960"/>
          </a:xfrm>
          <a:prstGeom prst="roundRect">
            <a:avLst>
              <a:gd name="adj" fmla="val 50000"/>
            </a:avLst>
          </a:prstGeom>
          <a:solidFill>
            <a:srgbClr val="6D4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09344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6D4FF0"/>
                </a:solidFill>
                <a:latin typeface="微软雅黑"/>
                <a:ea typeface="微软雅黑"/>
                <a:cs typeface="微软雅黑"/>
              </a:rPr>
              <a:t>同样的冲量，不同的“分配方式”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75104"/>
            <a:ext cx="493776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硬碰硬：Δt 小 → 力又高又尖　｜　缓冲：Δt 大 → 力又低又平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481328"/>
            <a:ext cx="5358384" cy="1170432"/>
          </a:xfrm>
          <a:prstGeom prst="roundRect">
            <a:avLst>
              <a:gd name="adj" fmla="val 5468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437376" y="1664208"/>
            <a:ext cx="68580" cy="804672"/>
          </a:xfrm>
          <a:prstGeom prst="roundRect">
            <a:avLst>
              <a:gd name="adj" fmla="val 50000"/>
            </a:avLst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609344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DBE"/>
                </a:solidFill>
                <a:latin typeface="微软雅黑"/>
                <a:ea typeface="微软雅黑"/>
                <a:cs typeface="微软雅黑"/>
              </a:rPr>
              <a:t>关键公式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75104"/>
            <a:ext cx="4846320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700"/>
              </a:spcAft>
            </a:pPr>
            <a:r>
              <a:rPr sz="16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平均力 F = Δp / Δt　→　Δp 不变时与 Δt 成反比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2779776"/>
          <a:ext cx="11064236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39"/>
                <a:gridCol w="1920239"/>
                <a:gridCol w="1920239"/>
                <a:gridCol w="2011680"/>
                <a:gridCol w="1920239"/>
              </a:tblGrid>
              <a:tr h="5059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情形</a:t>
                      </a:r>
                    </a:p>
                  </a:txBody>
                  <a:tcPr marT="25400" marB="25400" marL="76200" marR="76200" anchor="ctr">
                    <a:solidFill>
                      <a:srgbClr val="2F6B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作用时间 Δt</a:t>
                      </a:r>
                    </a:p>
                  </a:txBody>
                  <a:tcPr marT="25400" marB="25400" marL="76200" marR="76200" anchor="ctr">
                    <a:solidFill>
                      <a:srgbClr val="2F6B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平均力</a:t>
                      </a:r>
                    </a:p>
                  </a:txBody>
                  <a:tcPr marT="25400" marB="25400" marL="76200" marR="76200" anchor="ctr">
                    <a:solidFill>
                      <a:srgbClr val="2F6B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峰值力</a:t>
                      </a:r>
                    </a:p>
                  </a:txBody>
                  <a:tcPr marT="25400" marB="25400" marL="76200" marR="76200" anchor="ctr">
                    <a:solidFill>
                      <a:srgbClr val="2F6B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冲量 I</a:t>
                      </a:r>
                    </a:p>
                  </a:txBody>
                  <a:tcPr marT="25400" marB="25400" marL="76200" marR="76200" anchor="ctr">
                    <a:solidFill>
                      <a:srgbClr val="2F6BD8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硬地面（硬碰硬）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 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200 N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400 N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N·s</a:t>
                      </a:r>
                    </a:p>
                  </a:txBody>
                  <a:tcPr marT="25400" marB="25400" marL="76200" marR="76200" anchor="ctr">
                    <a:solidFill>
                      <a:srgbClr val="FFFFFF"/>
                    </a:solidFill>
                  </a:tcPr>
                </a:tc>
              </a:tr>
              <a:tr h="50596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海绵软垫（缓冲）</a:t>
                      </a:r>
                    </a:p>
                  </a:txBody>
                  <a:tcPr marT="25400" marB="25400" marL="76200" marR="76200" anchor="ctr">
                    <a:solidFill>
                      <a:srgbClr val="F4F8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0.40 s</a:t>
                      </a:r>
                    </a:p>
                  </a:txBody>
                  <a:tcPr marT="25400" marB="25400" marL="76200" marR="76200" anchor="ctr">
                    <a:solidFill>
                      <a:srgbClr val="F4F8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 N</a:t>
                      </a:r>
                    </a:p>
                  </a:txBody>
                  <a:tcPr marT="25400" marB="25400" marL="76200" marR="76200" anchor="ctr">
                    <a:solidFill>
                      <a:srgbClr val="F4F8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14 N</a:t>
                      </a:r>
                    </a:p>
                  </a:txBody>
                  <a:tcPr marT="25400" marB="25400" marL="76200" marR="76200" anchor="ctr">
                    <a:solidFill>
                      <a:srgbClr val="F4F8F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C3E5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N·s</a:t>
                      </a:r>
                    </a:p>
                  </a:txBody>
                  <a:tcPr marT="25400" marB="25400" marL="76200" marR="76200" anchor="ctr"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566928" y="4443984"/>
            <a:ext cx="1106424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4498848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2F6BD8"/>
                </a:solidFill>
                <a:latin typeface="微软雅黑"/>
                <a:ea typeface="微软雅黑"/>
                <a:cs typeface="微软雅黑"/>
              </a:rPr>
              <a:t>生活里都是这个道理</a:t>
            </a:r>
          </a:p>
        </p:txBody>
      </p:sp>
      <p:pic>
        <p:nvPicPr>
          <p:cNvPr id="18" name="Picture 17" descr="fig-appl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045" y="4773168"/>
            <a:ext cx="5796005" cy="14447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"/>
                            </p:tgtEl>
                            <p:childTnLst>
                              <p:set>
                                <p:cBhvr>
                                  <p:cTn id="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3"/>
                            </p:tgtEl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4"/>
                            </p:tgtEl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5"/>
                            </p:tgtEl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6"/>
                            </p:tgtEl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7"/>
                            </p:tgtEl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9"/>
                            </p:tgtEl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0"/>
                            </p:tgtEl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1"/>
                            </p:tgtEl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3"/>
                            </p:tgtEl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4"/>
                            </p:tgtEl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5"/>
                            </p:tgtEl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6"/>
                            </p:tgtEl>
                            <p:childTnLst>
                              <p:set>
                                <p:cBhvr>
                                  <p:cTn id="4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3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7"/>
                            </p:tgtEl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8"/>
                            </p:tgtEl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20624"/>
            <a:ext cx="146304" cy="548640"/>
          </a:xfrm>
          <a:prstGeom prst="rect">
            <a:avLst/>
          </a:prstGeom>
          <a:solidFill>
            <a:srgbClr val="0E9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36576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3400" b="1">
                <a:solidFill>
                  <a:srgbClr val="0E1E38"/>
                </a:solidFill>
                <a:latin typeface="微软雅黑"/>
                <a:ea typeface="微软雅黑"/>
                <a:cs typeface="微软雅黑"/>
              </a:rPr>
              <a:t>四、小结：三句话记住动量定理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64240" cy="14630"/>
          </a:xfrm>
          <a:prstGeom prst="rect">
            <a:avLst/>
          </a:prstGeom>
          <a:solidFill>
            <a:srgbClr val="D3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382512"/>
            <a:ext cx="685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30000"/>
              </a:lnSpc>
              <a:spcAft>
                <a:spcPts val="700"/>
              </a:spcAft>
            </a:pPr>
            <a:r>
              <a:rPr sz="11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10642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回到开场的问题：安全气囊、沙坑、头盔都在“拉长 Δt”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6784848" cy="1883664"/>
          </a:xfrm>
          <a:prstGeom prst="roundRect">
            <a:avLst>
              <a:gd name="adj" fmla="val 3398"/>
            </a:avLst>
          </a:prstGeom>
          <a:solidFill>
            <a:srgbClr val="EB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731520" y="1664208"/>
            <a:ext cx="68580" cy="1517904"/>
          </a:xfrm>
          <a:prstGeom prst="roundRect">
            <a:avLst>
              <a:gd name="adj" fmla="val 50000"/>
            </a:avLst>
          </a:prstGeom>
          <a:solidFill>
            <a:srgbClr val="2F6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09344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2F6BD8"/>
                </a:solidFill>
                <a:latin typeface="微软雅黑"/>
                <a:ea typeface="微软雅黑"/>
                <a:cs typeface="微软雅黑"/>
              </a:rPr>
              <a:t>核心结论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1975104"/>
            <a:ext cx="6345936" cy="1298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① 动量 p = m v 与冲量 I = F Δt 都是矢量，方向不能丢。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② 动量定理：I合 = Δp = m v' − m v。</a:t>
            </a:r>
          </a:p>
          <a:p>
            <a:pPr algn="l">
              <a:lnSpc>
                <a:spcPct val="134000"/>
              </a:lnSpc>
              <a:spcAft>
                <a:spcPts val="600"/>
              </a:spcAft>
            </a:pPr>
            <a:r>
              <a:rPr sz="15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③ 同样的 Δp，Δt 越大则平均力越小 —— 这就是缓冲。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11296"/>
            <a:ext cx="6784848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12700">
            <a:solidFill>
              <a:srgbClr val="D3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-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12" y="3621024"/>
            <a:ext cx="5188479" cy="252374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34656" y="1481328"/>
            <a:ext cx="4096512" cy="2505456"/>
          </a:xfrm>
          <a:prstGeom prst="roundRect">
            <a:avLst>
              <a:gd name="adj" fmla="val 2554"/>
            </a:avLst>
          </a:prstGeom>
          <a:solidFill>
            <a:srgbClr val="E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7699248" y="1664208"/>
            <a:ext cx="68580" cy="2139696"/>
          </a:xfrm>
          <a:prstGeom prst="roundRect">
            <a:avLst>
              <a:gd name="adj" fmla="val 50000"/>
            </a:avLst>
          </a:prstGeom>
          <a:solidFill>
            <a:srgbClr val="0E9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27264" y="1609344"/>
            <a:ext cx="36210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0E9A62"/>
                </a:solidFill>
                <a:latin typeface="微软雅黑"/>
                <a:ea typeface="微软雅黑"/>
                <a:cs typeface="微软雅黑"/>
              </a:rPr>
              <a:t>对比与澄清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1975104"/>
            <a:ext cx="3657600" cy="1938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冲量由 F 与 Δt 的乘积（曲线下面积）决定，与软硬无关。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缓冲不改变 Δp，只改变 F 与 Δt 的搭配。</a:t>
            </a:r>
          </a:p>
          <a:p>
            <a:pPr algn="l">
              <a:lnSpc>
                <a:spcPct val="132000"/>
              </a:lnSpc>
              <a:spcAft>
                <a:spcPts val="6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动量是状态量，冲量是过程量，别混用。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34656" y="4133087"/>
            <a:ext cx="4096512" cy="2121408"/>
          </a:xfrm>
          <a:prstGeom prst="roundRect">
            <a:avLst>
              <a:gd name="adj" fmla="val 3017"/>
            </a:avLst>
          </a:prstGeom>
          <a:solidFill>
            <a:srgbClr val="FF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7699248" y="4315968"/>
            <a:ext cx="68580" cy="1755648"/>
          </a:xfrm>
          <a:prstGeom prst="roundRect">
            <a:avLst>
              <a:gd name="adj" fmla="val 50000"/>
            </a:avLst>
          </a:prstGeom>
          <a:solidFill>
            <a:srgbClr val="E07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27264" y="4261104"/>
            <a:ext cx="3621024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700" b="1">
                <a:solidFill>
                  <a:srgbClr val="E0700A"/>
                </a:solidFill>
                <a:latin typeface="微软雅黑"/>
                <a:ea typeface="微软雅黑"/>
                <a:cs typeface="微软雅黑"/>
              </a:rPr>
              <a:t>易错点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4" y="4626864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速度反向时不要漏掉负号。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先规定正方向，再统一代入。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400" b="0">
                <a:solidFill>
                  <a:srgbClr val="2C3E58"/>
                </a:solidFill>
                <a:latin typeface="微软雅黑"/>
                <a:ea typeface="微软雅黑"/>
                <a:cs typeface="微软雅黑"/>
              </a:rPr>
              <a:t>•  冲量单位 N·s 与 kg·m/s 等价。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" y="6345936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sz="1350" b="0">
                <a:solidFill>
                  <a:srgbClr val="6C7E9B"/>
                </a:solidFill>
                <a:latin typeface="微软雅黑"/>
                <a:ea typeface="微软雅黑"/>
                <a:cs typeface="微软雅黑"/>
              </a:rPr>
              <a:t>让作用时间“缓一缓”，力就小下来 —— 这就是气囊、头盔、沙坑的物理。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"/>
                            </p:tgtEl>
                            <p:childTnLst>
                              <p:set>
                                <p:cBhvr>
                                  <p:cTn id="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" dur="500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3"/>
                            </p:tgtEl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4"/>
                            </p:tgtEl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" dur="5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5"/>
                            </p:tgtEl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" dur="5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6"/>
                            </p:tgtEl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" dur="5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1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7"/>
                            </p:tgtEl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" dur="5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9"/>
                            </p:tgtEl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" dur="50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0"/>
                            </p:tgtEl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5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2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3"/>
                            </p:tgtEl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" dur="50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5"/>
                            </p:tgtEl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2" dur="5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3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6"/>
                            </p:tgtEl>
                            <p:childTnLst>
                              <p:set>
                                <p:cBhvr>
                                  <p:cTn id="3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5" dur="50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3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1"/>
                            </p:tgtEl>
                            <p:childTnLst>
                              <p:set>
                                <p:cBhvr>
                                  <p:cTn id="3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9" dur="50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2"/>
                            </p:tgtEl>
                            <p:childTnLst>
                              <p:set>
                                <p:cBhvr>
                                  <p:cTn id="4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2" dur="5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44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7"/>
                            </p:tgtEl>
                            <p:childTnLst>
                              <p:set>
                                <p:cBhvr>
                                  <p:cTn id="4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6" dur="50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7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19"/>
                            </p:tgtEl>
                            <p:childTnLst>
                              <p:set>
                                <p:cBhvr>
                                  <p:cTn id="4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9" dur="50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0" presetID="10" presetClass="entr" presetSubtype="0" fill="hold" grpId="0" nodeType="clickEffect">
                            <p:stCondLst>
                              <p:cond delay="indefinite"/>
                            </p:stCondLst>
                            <p:tgtEl>
                              <p:spTgt spid="20"/>
                            </p:tgtEl>
                            <p:childTnLst>
                              <p:set>
                                <p:cBhvr>
                                  <p:cTn id="5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2" dur="50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3" grpId="0" animBg="1"/>
      <p:bldP spid="15" grpId="0" animBg="1"/>
      <p:bldP spid="16" grpId="0" animBg="1"/>
      <p:bldP spid="11" grpId="0" animBg="1"/>
      <p:bldP spid="12" grpId="0" animBg="1"/>
      <p:bldP spid="17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